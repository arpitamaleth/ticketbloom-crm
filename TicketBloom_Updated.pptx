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C45C7E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E8779A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2801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Ticket</a:t>
            </a:r>
            <a:pPr algn="ctr" indent="0" marL="0">
              <a:buNone/>
            </a:pPr>
            <a:r>
              <a:rPr lang="en-US" sz="6000" b="1" dirty="0">
                <a:solidFill>
                  <a:srgbClr val="E877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Bloom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097280" y="25146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Support Blossoms: Real-Time Customer Ticket CRM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74720" y="3090672"/>
            <a:ext cx="2194560" cy="36576"/>
          </a:xfrm>
          <a:prstGeom prst="rect">
            <a:avLst/>
          </a:prstGeom>
          <a:solidFill>
            <a:srgbClr val="E8779A"/>
          </a:solidFill>
          <a:ln w="12700">
            <a:solidFill>
              <a:srgbClr val="E877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291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8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ARPITA MALETH  |  CU23BCA0011A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3749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Chanakya University  ·  BCA Programme  ·  March –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OUR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3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Mission &amp;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solidFill>
            <a:srgbClr val="FFF0F5"/>
          </a:solidFill>
          <a:ln w="12700">
            <a:solidFill>
              <a:srgbClr val="F5D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98448"/>
            <a:ext cx="7863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bridge the gap between customers and support agents through an enterprise-grade, event-driven ecosystem that ensures scalability and real-time responsiveness.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3977640" cy="2286000"/>
          </a:xfrm>
          <a:prstGeom prst="rect">
            <a:avLst/>
          </a:prstGeom>
          <a:solidFill>
            <a:srgbClr val="FDF5F8"/>
          </a:solidFill>
          <a:ln w="12700">
            <a:solidFill>
              <a:srgbClr val="F5D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359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Legacy CRUD Friction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support systems face blocking operations. Synchronous API calls lead to bottlenecks during high traffic, causing delays in ticket updates and frustrating both agents and customers.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2240280"/>
            <a:ext cx="3977640" cy="2286000"/>
          </a:xfrm>
          <a:prstGeom prst="rect">
            <a:avLst/>
          </a:prstGeom>
          <a:solidFill>
            <a:srgbClr val="FDF5F8"/>
          </a:solidFill>
          <a:ln w="12700">
            <a:solidFill>
              <a:srgbClr val="F5D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2359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The Event-Driven Shift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269748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TicketBloom utilizes Apache Kafka to decouple background tasks from the main execution thread. This results in a non-blocking, asynchronous flow where events are streamed instantly across the system.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&amp; Stateless Authentication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5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Stateless Authentication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TicketBloom employs JSON Web Tokens (JWT) for secure, stateless sessions. User privacy is paramount, utilizing bcryptjs for advanced password hashing before data ever reaches the database.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 for Customers &amp; Agents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Register / Login endpoints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role-aware dashboard views</a:t>
            </a:r>
            <a:endParaRPr lang="en-US" sz="1250" dirty="0"/>
          </a:p>
        </p:txBody>
      </p:sp>
      <p:pic>
        <p:nvPicPr>
          <p:cNvPr id="7" name="Image 0" descr="/home/claude/orig_imgs/login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005840"/>
            <a:ext cx="3657600" cy="35661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Event-Driven Backend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508760" cy="777240"/>
          </a:xfrm>
          <a:prstGeom prst="rect">
            <a:avLst/>
          </a:prstGeom>
          <a:solidFill>
            <a:srgbClr val="FFF0F5"/>
          </a:solidFill>
          <a:ln w="12700">
            <a:solidFill>
              <a:srgbClr val="F5D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65960" y="1371600"/>
            <a:ext cx="1508760" cy="777240"/>
          </a:xfrm>
          <a:prstGeom prst="rect">
            <a:avLst/>
          </a:prstGeom>
          <a:solidFill>
            <a:srgbClr val="FFF0F5"/>
          </a:solidFill>
          <a:ln w="12700">
            <a:solidFill>
              <a:srgbClr val="F5D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965960" y="13716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66160" y="1371600"/>
            <a:ext cx="1508760" cy="777240"/>
          </a:xfrm>
          <a:prstGeom prst="rect">
            <a:avLst/>
          </a:prstGeom>
          <a:solidFill>
            <a:srgbClr val="FFF0F5"/>
          </a:solidFill>
          <a:ln w="12700">
            <a:solidFill>
              <a:srgbClr val="F5D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3716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Broker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66360" y="1371600"/>
            <a:ext cx="1508760" cy="777240"/>
          </a:xfrm>
          <a:prstGeom prst="rect">
            <a:avLst/>
          </a:prstGeom>
          <a:solidFill>
            <a:srgbClr val="FFF0F5"/>
          </a:solidFill>
          <a:ln w="12700">
            <a:solidFill>
              <a:srgbClr val="F5D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66360" y="13716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Bot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6560" y="1371600"/>
            <a:ext cx="1508760" cy="777240"/>
          </a:xfrm>
          <a:prstGeom prst="rect">
            <a:avLst/>
          </a:prstGeom>
          <a:solidFill>
            <a:srgbClr val="FFF0F5"/>
          </a:solidFill>
          <a:ln w="12700">
            <a:solidFill>
              <a:srgbClr val="F5D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13716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74520" y="1760220"/>
            <a:ext cx="457200" cy="0"/>
          </a:xfrm>
          <a:prstGeom prst="line">
            <a:avLst/>
          </a:prstGeom>
          <a:noFill/>
          <a:ln w="25400">
            <a:solidFill>
              <a:srgbClr val="E877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1760220"/>
            <a:ext cx="457200" cy="0"/>
          </a:xfrm>
          <a:prstGeom prst="line">
            <a:avLst/>
          </a:prstGeom>
          <a:noFill/>
          <a:ln w="25400">
            <a:solidFill>
              <a:srgbClr val="E877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1760220"/>
            <a:ext cx="457200" cy="0"/>
          </a:xfrm>
          <a:prstGeom prst="line">
            <a:avLst/>
          </a:prstGeom>
          <a:noFill/>
          <a:ln w="25400">
            <a:solidFill>
              <a:srgbClr val="E877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1760220"/>
            <a:ext cx="457200" cy="0"/>
          </a:xfrm>
          <a:prstGeom prst="line">
            <a:avLst/>
          </a:prstGeom>
          <a:noFill/>
          <a:ln w="25400">
            <a:solidFill>
              <a:srgbClr val="E877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423160"/>
            <a:ext cx="2606040" cy="2194560"/>
          </a:xfrm>
          <a:prstGeom prst="rect">
            <a:avLst/>
          </a:prstGeom>
          <a:solidFill>
            <a:srgbClr val="FDF5F8"/>
          </a:solidFill>
          <a:ln w="12700">
            <a:solidFill>
              <a:srgbClr val="F5D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" y="2542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Non-Blocking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" y="2852928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requests resolve instantly — Kafka handles heavy tasks in the background without slowing responses.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0" y="2423160"/>
            <a:ext cx="2606040" cy="2194560"/>
          </a:xfrm>
          <a:prstGeom prst="rect">
            <a:avLst/>
          </a:prstGeom>
          <a:solidFill>
            <a:srgbClr val="FDF5F8"/>
          </a:solidFill>
          <a:ln w="12700">
            <a:solidFill>
              <a:srgbClr val="F5D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10128" y="2542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Decoupled Services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10128" y="2852928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Producer/Consumer pattern separates ticket events from core business logic for maximum reliability.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35040" y="2423160"/>
            <a:ext cx="2606040" cy="2194560"/>
          </a:xfrm>
          <a:prstGeom prst="rect">
            <a:avLst/>
          </a:prstGeom>
          <a:solidFill>
            <a:srgbClr val="FDF5F8"/>
          </a:solidFill>
          <a:ln w="12700">
            <a:solidFill>
              <a:srgbClr val="F5D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44768" y="2542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Processing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44768" y="2852928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such as ticket creation and status updates are streamed and processed automatically by consumer bots.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 UX &amp; Dynamic Analytics</a:t>
            </a:r>
            <a:endParaRPr lang="en-US" sz="2800" dirty="0"/>
          </a:p>
        </p:txBody>
      </p:sp>
      <p:pic>
        <p:nvPicPr>
          <p:cNvPr id="4" name="Image 0" descr="/home/claude/orig_imgs/dashboard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4206240" cy="34290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57200" y="1280160"/>
            <a:ext cx="4114800" cy="1097280"/>
          </a:xfrm>
          <a:prstGeom prst="rect">
            <a:avLst/>
          </a:prstGeom>
          <a:solidFill>
            <a:srgbClr val="FDF5F8"/>
          </a:solidFill>
          <a:ln w="12700">
            <a:solidFill>
              <a:srgbClr val="F5D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1371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5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Glassmorphism Styling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94360" y="164592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High-end frosted glass elements provide a professional yet visually soothing experience across all views.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468880"/>
            <a:ext cx="4114800" cy="1097280"/>
          </a:xfrm>
          <a:prstGeom prst="rect">
            <a:avLst/>
          </a:prstGeom>
          <a:solidFill>
            <a:srgbClr val="FDF5F8"/>
          </a:solidFill>
          <a:ln w="12700">
            <a:solidFill>
              <a:srgbClr val="F5D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" y="2560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5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Comprehensive Tracking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4360" y="28346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see their own ticket history; Agents have full visibility to manage and close systemic issues in real time.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657600"/>
            <a:ext cx="4114800" cy="1097280"/>
          </a:xfrm>
          <a:prstGeom prst="rect">
            <a:avLst/>
          </a:prstGeom>
          <a:solidFill>
            <a:srgbClr val="FDF5F8"/>
          </a:solidFill>
          <a:ln w="12700">
            <a:solidFill>
              <a:srgbClr val="F5D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" y="3749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5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Lifecycle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94360" y="402336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Statuses update through Open → In Progress → Closed automatically via event-driven Kafka consumer triggers.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MANAGEMENT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Ticket Lifecycle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Comprehensive Tracking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ticket has a detailed journey. Customers can view their history, while Agents have full visibility into systemic issues. Statuses are updated in real-time: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633472"/>
            <a:ext cx="1188720" cy="347472"/>
          </a:xfrm>
          <a:prstGeom prst="roundRect">
            <a:avLst>
              <a:gd name="adj" fmla="val 26316"/>
            </a:avLst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334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55648" y="2633472"/>
            <a:ext cx="1188720" cy="347472"/>
          </a:xfrm>
          <a:prstGeom prst="roundRect">
            <a:avLst>
              <a:gd name="adj" fmla="val 26316"/>
            </a:avLst>
          </a:prstGeom>
          <a:solidFill>
            <a:srgbClr val="E3F2FD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55648" y="26334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54096" y="2633472"/>
            <a:ext cx="1188720" cy="347472"/>
          </a:xfrm>
          <a:prstGeom prst="roundRect">
            <a:avLst>
              <a:gd name="adj" fmla="val 26316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54096" y="26334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100" dirty="0"/>
          </a:p>
        </p:txBody>
      </p:sp>
      <p:pic>
        <p:nvPicPr>
          <p:cNvPr id="12" name="Image 0" descr="/home/claude/orig_imgs/ticket_lifecycle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005840"/>
            <a:ext cx="4206240" cy="35661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Flexible Data Modeling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serves as the primary persistence layer, storing Users and Tickets with high availability. The native MongoDB driver enforces strict data schemas, keeping the agility required for a scaling CRM.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session storage support via JWT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ticket querying &amp; filtering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local &amp; MongoDB Atlas integration</a:t>
            </a:r>
            <a:endParaRPr lang="en-US" sz="1250" dirty="0"/>
          </a:p>
        </p:txBody>
      </p:sp>
      <p:pic>
        <p:nvPicPr>
          <p:cNvPr id="6" name="Image 0" descr="/home/claude/orig_imgs/mongodb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005840"/>
            <a:ext cx="4206240" cy="34747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920240" cy="2651760"/>
          </a:xfrm>
          <a:prstGeom prst="rect">
            <a:avLst/>
          </a:prstGeom>
          <a:solidFill>
            <a:srgbClr val="FDF5F8"/>
          </a:solidFill>
          <a:ln w="12700">
            <a:solidFill>
              <a:srgbClr val="F5D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8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3042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3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&amp; Express.js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2679192"/>
            <a:ext cx="17007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backend architecture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325880"/>
            <a:ext cx="1920240" cy="2651760"/>
          </a:xfrm>
          <a:prstGeom prst="rect">
            <a:avLst/>
          </a:prstGeom>
          <a:solidFill>
            <a:srgbClr val="FDF5F8"/>
          </a:solidFill>
          <a:ln w="12700">
            <a:solidFill>
              <a:srgbClr val="F5D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88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8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23042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3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78608" y="2679192"/>
            <a:ext cx="17007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document storage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325880"/>
            <a:ext cx="1920240" cy="2651760"/>
          </a:xfrm>
          <a:prstGeom prst="rect">
            <a:avLst/>
          </a:prstGeom>
          <a:solidFill>
            <a:srgbClr val="FDF5F8"/>
          </a:solidFill>
          <a:ln w="12700">
            <a:solidFill>
              <a:srgbClr val="F5D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8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3042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3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Apache Kafka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81728" y="2679192"/>
            <a:ext cx="17007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streaming backbone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1325880"/>
            <a:ext cx="1920240" cy="2651760"/>
          </a:xfrm>
          <a:prstGeom prst="rect">
            <a:avLst/>
          </a:prstGeom>
          <a:solidFill>
            <a:srgbClr val="FDF5F8"/>
          </a:solidFill>
          <a:ln w="12700">
            <a:solidFill>
              <a:srgbClr val="F5D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67512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8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23042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3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 &amp; Bcrypt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84848" y="2679192"/>
            <a:ext cx="17007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token authentication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114800"/>
            <a:ext cx="8412480" cy="685800"/>
          </a:xfrm>
          <a:prstGeom prst="rect">
            <a:avLst/>
          </a:prstGeom>
          <a:solidFill>
            <a:srgbClr val="FFF0F5"/>
          </a:solidFill>
          <a:ln w="12700">
            <a:solidFill>
              <a:srgbClr val="F5D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418795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</a:t>
            </a:r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 ·  CSS3 (Glassmorphism)  ·  Vanilla JavaScript  ·  Fetch API  ·  Role-Aware Dashboards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METHODOLOGY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Agile Roadmap  —  3 Sprint 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51760" cy="3474720"/>
          </a:xfrm>
          <a:prstGeom prst="rect">
            <a:avLst/>
          </a:prstGeom>
          <a:solidFill>
            <a:srgbClr val="FDF5F8"/>
          </a:solidFill>
          <a:ln w="12700">
            <a:solidFill>
              <a:srgbClr val="F5D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2651760" cy="502920"/>
          </a:xfrm>
          <a:prstGeom prst="rect">
            <a:avLst/>
          </a:prstGeom>
          <a:solidFill>
            <a:srgbClr val="E8779A"/>
          </a:solidFill>
          <a:ln w="12700">
            <a:solidFill>
              <a:srgbClr val="E877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5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&amp; Foundation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 – Mar 14, 2026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4414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pts delivered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Login flows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stateless authentication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password hashing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database setup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API scaffolding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51760" cy="3474720"/>
          </a:xfrm>
          <a:prstGeom prst="rect">
            <a:avLst/>
          </a:prstGeom>
          <a:solidFill>
            <a:srgbClr val="FDF5F8"/>
          </a:solidFill>
          <a:ln w="12700">
            <a:solidFill>
              <a:srgbClr val="F5D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80160"/>
            <a:ext cx="2651760" cy="502920"/>
          </a:xfrm>
          <a:prstGeom prst="rect">
            <a:avLst/>
          </a:prstGeom>
          <a:solidFill>
            <a:srgbClr val="E8779A"/>
          </a:solidFill>
          <a:ln w="12700">
            <a:solidFill>
              <a:srgbClr val="E877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280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5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Ticket Logic &amp; RBAC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91840" y="2194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15 – Mar 28, 2026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91840" y="24414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pts delivered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2724912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schema (MongoDB)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APIs for ticket management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&amp; Customer dashboards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 (Open / In Progress / Closed)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1280160"/>
            <a:ext cx="2651760" cy="3474720"/>
          </a:xfrm>
          <a:prstGeom prst="rect">
            <a:avLst/>
          </a:prstGeom>
          <a:solidFill>
            <a:srgbClr val="FDF5F8"/>
          </a:solidFill>
          <a:ln w="12700">
            <a:solidFill>
              <a:srgbClr val="F5D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280160"/>
            <a:ext cx="2651760" cy="502920"/>
          </a:xfrm>
          <a:prstGeom prst="rect">
            <a:avLst/>
          </a:prstGeom>
          <a:solidFill>
            <a:srgbClr val="E8779A"/>
          </a:solidFill>
          <a:ln w="12700">
            <a:solidFill>
              <a:srgbClr val="E877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280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5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Kafka Streaming &amp; UI Polish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26480" y="2194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29 – Apr 11, 2026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26480" y="24414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pts delivered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2724912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producer for ticket events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consumer bot (background processing)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 logic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UI polish &amp; responsiveness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resolution &amp; final testing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Feature Progress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development ensuring modularity and stability at every release milestone.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1: Auth &amp; Foundation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8046720" cy="292608"/>
          </a:xfrm>
          <a:prstGeom prst="rect">
            <a:avLst/>
          </a:prstGeom>
          <a:solidFill>
            <a:srgbClr val="F0E0E8"/>
          </a:solidFill>
          <a:ln w="12700">
            <a:solidFill>
              <a:srgbClr val="F0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65960"/>
            <a:ext cx="8046720" cy="292608"/>
          </a:xfrm>
          <a:prstGeom prst="rect">
            <a:avLst/>
          </a:prstGeom>
          <a:solidFill>
            <a:srgbClr val="C45C7E"/>
          </a:solidFill>
          <a:ln w="12700">
            <a:solidFill>
              <a:srgbClr val="C45C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196596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414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2: Ticket Logic &amp; RBAC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15768"/>
            <a:ext cx="8046720" cy="292608"/>
          </a:xfrm>
          <a:prstGeom prst="rect">
            <a:avLst/>
          </a:prstGeom>
          <a:solidFill>
            <a:srgbClr val="F0E0E8"/>
          </a:solidFill>
          <a:ln w="12700">
            <a:solidFill>
              <a:srgbClr val="F0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15768"/>
            <a:ext cx="8046720" cy="292608"/>
          </a:xfrm>
          <a:prstGeom prst="rect">
            <a:avLst/>
          </a:prstGeom>
          <a:solidFill>
            <a:srgbClr val="E8779A"/>
          </a:solidFill>
          <a:ln w="12700">
            <a:solidFill>
              <a:srgbClr val="E877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271576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19125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3: Kafka Streaming &amp; UI Polish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65576"/>
            <a:ext cx="8046720" cy="292608"/>
          </a:xfrm>
          <a:prstGeom prst="rect">
            <a:avLst/>
          </a:prstGeom>
          <a:solidFill>
            <a:srgbClr val="F0E0E8"/>
          </a:solidFill>
          <a:ln w="12700">
            <a:solidFill>
              <a:srgbClr val="F0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465576"/>
            <a:ext cx="8046720" cy="292608"/>
          </a:xfrm>
          <a:prstGeom prst="rect">
            <a:avLst/>
          </a:prstGeom>
          <a:solidFill>
            <a:srgbClr val="E89CB0"/>
          </a:solidFill>
          <a:ln w="12700">
            <a:solidFill>
              <a:srgbClr val="E89C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3465576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33088"/>
            <a:ext cx="1920240" cy="804672"/>
          </a:xfrm>
          <a:prstGeom prst="rect">
            <a:avLst/>
          </a:prstGeom>
          <a:solidFill>
            <a:srgbClr val="FFF0F5"/>
          </a:solidFill>
          <a:ln w="12700">
            <a:solidFill>
              <a:srgbClr val="F5D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41605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5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45811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06040" y="4133088"/>
            <a:ext cx="1920240" cy="804672"/>
          </a:xfrm>
          <a:prstGeom prst="rect">
            <a:avLst/>
          </a:prstGeom>
          <a:solidFill>
            <a:srgbClr val="FFF0F5"/>
          </a:solidFill>
          <a:ln w="12700">
            <a:solidFill>
              <a:srgbClr val="F5D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06040" y="41605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5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606040" y="45811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4133088"/>
            <a:ext cx="1920240" cy="804672"/>
          </a:xfrm>
          <a:prstGeom prst="rect">
            <a:avLst/>
          </a:prstGeom>
          <a:solidFill>
            <a:srgbClr val="FFF0F5"/>
          </a:solidFill>
          <a:ln w="12700">
            <a:solidFill>
              <a:srgbClr val="F5D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41605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5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754880" y="45811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03720" y="4133088"/>
            <a:ext cx="1920240" cy="804672"/>
          </a:xfrm>
          <a:prstGeom prst="rect">
            <a:avLst/>
          </a:prstGeom>
          <a:solidFill>
            <a:srgbClr val="FFF0F5"/>
          </a:solidFill>
          <a:ln w="12700">
            <a:solidFill>
              <a:srgbClr val="F5D0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03720" y="41605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5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03720" y="45811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Bugs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C45C7E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E8779A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Any Questions?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17627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and engagement.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74720" y="2724912"/>
            <a:ext cx="2194560" cy="36576"/>
          </a:xfrm>
          <a:prstGeom prst="rect">
            <a:avLst/>
          </a:prstGeom>
          <a:solidFill>
            <a:srgbClr val="E8779A"/>
          </a:solidFill>
          <a:ln w="12700">
            <a:solidFill>
              <a:srgbClr val="E877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077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E8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Arpita Maleth  |  CU23BCA0011A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– April 2026 Sprint Cycle  ·  Chanakya University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TicketBloom — Real-Time Customer Ticket CRM</dc:title>
  <dc:subject>PptxGenJS Presentation</dc:subject>
  <dc:creator>Arpita Maleth</dc:creator>
  <cp:lastModifiedBy>Arpita Maleth</cp:lastModifiedBy>
  <cp:revision>1</cp:revision>
  <dcterms:created xsi:type="dcterms:W3CDTF">2026-05-06T09:29:45Z</dcterms:created>
  <dcterms:modified xsi:type="dcterms:W3CDTF">2026-05-06T09:29:45Z</dcterms:modified>
</cp:coreProperties>
</file>